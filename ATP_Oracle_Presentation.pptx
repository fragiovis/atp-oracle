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18D"/>
    <a:srgbClr val="199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55"/>
  </p:normalViewPr>
  <p:slideViewPr>
    <p:cSldViewPr snapToGrid="0" snapToObjects="1">
      <p:cViewPr>
        <p:scale>
          <a:sx n="77" d="100"/>
          <a:sy n="77" d="100"/>
        </p:scale>
        <p:origin x="608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-365760"/>
            <a:ext cx="2926080" cy="2926080"/>
          </a:xfrm>
          <a:prstGeom prst="ellipse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502919"/>
            <a:ext cx="3657600" cy="424725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BIG DATA COURSE — A.Y.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96012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ATP 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 i="0">
                <a:solidFill>
                  <a:srgbClr val="A8B8CC"/>
                </a:solidFill>
                <a:latin typeface="Calibri"/>
              </a:rPr>
              <a:t>Pre-Match Prediction System for ATP Tennis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72384"/>
            <a:ext cx="5303520" cy="457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1868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it-IT" sz="1500" b="0" i="1" dirty="0">
                <a:solidFill>
                  <a:srgbClr val="2E86AB"/>
                </a:solidFill>
                <a:latin typeface="Calibri"/>
              </a:rPr>
              <a:t>LLM </a:t>
            </a:r>
            <a:r>
              <a:rPr lang="it-IT" sz="1500" b="0" i="1" dirty="0" err="1">
                <a:solidFill>
                  <a:srgbClr val="2E86AB"/>
                </a:solidFill>
                <a:latin typeface="Calibri"/>
              </a:rPr>
              <a:t>powered</a:t>
            </a:r>
            <a:r>
              <a:rPr lang="it-IT" sz="1500" b="0" i="1" dirty="0">
                <a:solidFill>
                  <a:srgbClr val="2E86AB"/>
                </a:solidFill>
                <a:latin typeface="Calibri"/>
              </a:rPr>
              <a:t> </a:t>
            </a:r>
            <a:r>
              <a:rPr sz="1500" b="0" i="1" dirty="0">
                <a:solidFill>
                  <a:srgbClr val="2E86AB"/>
                </a:solidFill>
                <a:latin typeface="Calibri"/>
              </a:rPr>
              <a:t>Machine Learning Pipeline on Big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58768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858768"/>
            <a:ext cx="73152" cy="42062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913631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Match Winner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3858768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3858768"/>
            <a:ext cx="73152" cy="42062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3913631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Tiebreak Presence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3858768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3858768"/>
            <a:ext cx="73152" cy="42062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3913631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Player 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0832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370832"/>
            <a:ext cx="73152" cy="42062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4425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4370832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55848" y="4370832"/>
            <a:ext cx="73152" cy="42062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4425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Games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4370832"/>
            <a:ext cx="2651760" cy="42062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08776" y="4370832"/>
            <a:ext cx="73152" cy="42062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42569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Sets Played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65760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E87A22"/>
                </a:solidFill>
                <a:latin typeface="Calibri"/>
              </a:rPr>
              <a:t>~700K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160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matches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6177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E87A22"/>
                </a:solidFill>
                <a:latin typeface="Calibri"/>
              </a:rPr>
              <a:t>60K+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120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players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5778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E87A22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608075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ML models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09B302E-5393-109E-3E71-B27072F9B2A0}"/>
              </a:ext>
            </a:extLst>
          </p:cNvPr>
          <p:cNvSpPr txBox="1"/>
          <p:nvPr/>
        </p:nvSpPr>
        <p:spPr>
          <a:xfrm>
            <a:off x="475504" y="635257"/>
            <a:ext cx="304493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00" b="1" dirty="0">
                <a:solidFill>
                  <a:srgbClr val="FFFFFF"/>
                </a:solidFill>
                <a:latin typeface="Calibri"/>
              </a:rPr>
              <a:t>Francesco Giovanardi, Alessandro Cavina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338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5 V's of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How ATP Oracle embodies every pillar of the Big Data paradigm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11521440" cy="91440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73152" cy="91440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16736"/>
            <a:ext cx="475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7A22"/>
                </a:solidFill>
                <a:latin typeface="Calibri"/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36192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35331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7A22"/>
                </a:solidFill>
                <a:latin typeface="Calibri"/>
              </a:rPr>
              <a:t>~700K matches · 60K+ players · ~65 MB feature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1700784"/>
            <a:ext cx="9601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Decades of ATP history aggregated into tens of millions of per-player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31136"/>
            <a:ext cx="11521440" cy="91440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231136"/>
            <a:ext cx="73152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28600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  <a:latin typeface="Calibri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505456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322576"/>
            <a:ext cx="9601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2E86AB"/>
                </a:solidFill>
                <a:latin typeface="Calibri"/>
              </a:rPr>
              <a:t>End-to-end pipeline runs in minutes</a:t>
            </a:r>
            <a:r>
              <a:rPr lang="it-IT" sz="1100" b="1" i="0" dirty="0">
                <a:solidFill>
                  <a:srgbClr val="2E86AB"/>
                </a:solidFill>
                <a:latin typeface="Calibri"/>
              </a:rPr>
              <a:t>, </a:t>
            </a:r>
            <a:r>
              <a:rPr lang="it-IT" sz="1100" b="1" i="0" dirty="0" err="1">
                <a:solidFill>
                  <a:srgbClr val="2E86AB"/>
                </a:solidFill>
                <a:latin typeface="Calibri"/>
              </a:rPr>
              <a:t>prediction</a:t>
            </a:r>
            <a:r>
              <a:rPr lang="it-IT" sz="1100" b="1" dirty="0" err="1">
                <a:solidFill>
                  <a:srgbClr val="2E86AB"/>
                </a:solidFill>
                <a:latin typeface="Calibri"/>
              </a:rPr>
              <a:t>s</a:t>
            </a:r>
            <a:r>
              <a:rPr lang="it-IT" sz="1100" b="1" dirty="0">
                <a:solidFill>
                  <a:srgbClr val="2E86AB"/>
                </a:solidFill>
                <a:latin typeface="Calibri"/>
              </a:rPr>
              <a:t> in seconds</a:t>
            </a:r>
            <a:endParaRPr sz="1100" b="1" i="0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29968" y="2670048"/>
            <a:ext cx="9601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Automated flow: scraping → normalisation → feature engineering → model training. Real-time inference on demand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00400"/>
            <a:ext cx="11521440" cy="91440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200400"/>
            <a:ext cx="73152" cy="9144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25526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B998B"/>
                </a:solidFill>
                <a:latin typeface="Calibri"/>
              </a:rPr>
              <a:t>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VERACITY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329184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Multi-layer validation · time-based splits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3639312"/>
            <a:ext cx="9601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Official source (Jeff Sackmann / ATP), deduplication, consistent NaN handling, strict temporal splits to prevent data leakage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69664"/>
            <a:ext cx="11521440" cy="91440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169664"/>
            <a:ext cx="73152" cy="9144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422452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Calibri"/>
              </a:rPr>
              <a:t>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443984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VARIETY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4261104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  <a:latin typeface="Calibri"/>
              </a:rPr>
              <a:t>Rankings · match stats · H2H · surface Elo · tournament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4608576"/>
            <a:ext cx="9601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Heterogeneous inputs: serve stats per point, head-to-head records, Elo ratings by surface, round and format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38928"/>
            <a:ext cx="11521440" cy="91440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138928"/>
            <a:ext cx="73152" cy="91440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" y="5193792"/>
            <a:ext cx="4754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7A22"/>
                </a:solidFill>
                <a:latin typeface="Calibri"/>
              </a:rPr>
              <a:t>V5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41324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23036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7A22"/>
                </a:solidFill>
                <a:latin typeface="Calibri"/>
              </a:rPr>
              <a:t>6 actionable predictions per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5577840"/>
            <a:ext cx="9601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Concrete outputs across 6 distinct targets, delivered via a natural-language agent with interpretable explanations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338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Medallion pattern: Raw → Bronze → Silver → Gold →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335" y="1207008"/>
            <a:ext cx="1920240" cy="141732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6335" y="1207008"/>
            <a:ext cx="192024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087" y="1280160"/>
            <a:ext cx="4023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 dirty="0">
                <a:solidFill>
                  <a:srgbClr val="E87A2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6063" y="129844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063" y="17739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E87A22"/>
                </a:solidFill>
                <a:latin typeface="Calibri"/>
              </a:rPr>
              <a:t>ATP historical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063" y="2103120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since 1968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6575" y="1892808"/>
            <a:ext cx="219456" cy="45720"/>
          </a:xfrm>
          <a:prstGeom prst="rect">
            <a:avLst/>
          </a:prstGeom>
          <a:solidFill>
            <a:srgbClr val="55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96031" y="1207008"/>
            <a:ext cx="1920240" cy="141732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96031" y="1207008"/>
            <a:ext cx="192024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0783" y="1280160"/>
            <a:ext cx="4023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2E86A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759" y="129844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759" y="17739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Parse &amp; 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5759" y="2103120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normalise columns, dates, surfaces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6271" y="1892808"/>
            <a:ext cx="219456" cy="45720"/>
          </a:xfrm>
          <a:prstGeom prst="rect">
            <a:avLst/>
          </a:prstGeom>
          <a:solidFill>
            <a:srgbClr val="55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35727" y="1207008"/>
            <a:ext cx="1920240" cy="141732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35727" y="1207008"/>
            <a:ext cx="192024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479" y="1280160"/>
            <a:ext cx="4023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1B998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5455" y="129844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5455" y="17739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B998B"/>
                </a:solidFill>
                <a:latin typeface="Calibri"/>
              </a:rPr>
              <a:t>Clean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5455" y="2103120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matches, stats, players, H2H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5967" y="1892808"/>
            <a:ext cx="219456" cy="45720"/>
          </a:xfrm>
          <a:prstGeom prst="rect">
            <a:avLst/>
          </a:prstGeom>
          <a:solidFill>
            <a:srgbClr val="55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75423" y="1207008"/>
            <a:ext cx="1920240" cy="141732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75423" y="1207008"/>
            <a:ext cx="1920240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20175" y="1280160"/>
            <a:ext cx="4023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0B429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5151" y="129844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5151" y="17739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  <a:latin typeface="Calibri"/>
              </a:rPr>
              <a:t>Feature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5151" y="2103120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Elo, win rates, serve &amp; return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5663" y="1892808"/>
            <a:ext cx="219456" cy="45720"/>
          </a:xfrm>
          <a:prstGeom prst="rect">
            <a:avLst/>
          </a:prstGeom>
          <a:solidFill>
            <a:srgbClr val="55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15119" y="1207008"/>
            <a:ext cx="1920240" cy="141732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15119" y="1207008"/>
            <a:ext cx="192024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59871" y="1280160"/>
            <a:ext cx="4023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87A22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4847" y="129844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4847" y="17739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7A22"/>
                </a:solidFill>
                <a:latin typeface="Calibri"/>
              </a:rPr>
              <a:t>6 ML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4847" y="2103120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one per prediction target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761488"/>
            <a:ext cx="11521440" cy="51206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2761488"/>
            <a:ext cx="1188720" cy="5120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287121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19" y="2852928"/>
            <a:ext cx="10104119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Acquisition of all ATP tour match records (1968 → present day)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300984"/>
            <a:ext cx="11521440" cy="51206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3300984"/>
            <a:ext cx="1188720" cy="5120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341071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19" y="3392424"/>
            <a:ext cx="10104119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Column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standardisation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 date parsing, surface mapping, tournament category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840480"/>
            <a:ext cx="11521440" cy="51206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040" y="3840480"/>
            <a:ext cx="1188720" cy="5120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395020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19" y="3931920"/>
            <a:ext cx="10104119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Structured tables: matches · match stats · players · head-to-head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379976"/>
            <a:ext cx="11521440" cy="512064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" y="4379976"/>
            <a:ext cx="1188720" cy="5120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" y="448970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5919" y="4471416"/>
            <a:ext cx="10104119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Surface Elo ratings, win rates, serve &amp; return stats, interaction features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919472"/>
            <a:ext cx="11521440" cy="51206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20040" y="4919472"/>
            <a:ext cx="1188720" cy="5120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0040" y="502920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19" y="5010912"/>
            <a:ext cx="10104119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Training of 6 specialised models — each optimised for its own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A8B8CC"/>
                </a:solidFill>
                <a:latin typeface="Calibri"/>
              </a:rPr>
              <a:t>Cloud-distributed storage with layered layout — batch processing on structured data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6939B133-B33B-CBBF-E015-D34E67836AA5}"/>
              </a:ext>
            </a:extLst>
          </p:cNvPr>
          <p:cNvSpPr txBox="1"/>
          <p:nvPr/>
        </p:nvSpPr>
        <p:spPr>
          <a:xfrm>
            <a:off x="1128713" y="5857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78BA9C5E-283F-866D-A20C-321CC5B38443}"/>
              </a:ext>
            </a:extLst>
          </p:cNvPr>
          <p:cNvSpPr/>
          <p:nvPr/>
        </p:nvSpPr>
        <p:spPr>
          <a:xfrm>
            <a:off x="585788" y="5600628"/>
            <a:ext cx="10844212" cy="594503"/>
          </a:xfrm>
          <a:prstGeom prst="roundRect">
            <a:avLst/>
          </a:prstGeom>
          <a:solidFill>
            <a:srgbClr val="B8B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FFFFFF"/>
                </a:solidFill>
                <a:latin typeface="Calibri"/>
              </a:rPr>
              <a:t>Feature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computation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at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inference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time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requires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scanning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thousands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of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historical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records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per player — the Gold </a:t>
            </a:r>
          </a:p>
          <a:p>
            <a:pPr algn="ctr"/>
            <a:r>
              <a:rPr lang="it-IT" sz="1600" dirty="0" err="1">
                <a:solidFill>
                  <a:srgbClr val="FFFFFF"/>
                </a:solidFill>
                <a:latin typeface="Calibri"/>
              </a:rPr>
              <a:t>layer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pre-materialises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these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aggregations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to make real-time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prediction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FFFFFF"/>
                </a:solidFill>
                <a:latin typeface="Calibri"/>
              </a:rPr>
              <a:t>feasible</a:t>
            </a:r>
            <a:r>
              <a:rPr lang="it-IT" sz="16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pic>
        <p:nvPicPr>
          <p:cNvPr id="77" name="Elemento grafico 76" descr="Luci accese con riempimento a tinta unita">
            <a:extLst>
              <a:ext uri="{FF2B5EF4-FFF2-40B4-BE49-F238E27FC236}">
                <a16:creationId xmlns:a16="http://schemas.microsoft.com/office/drawing/2014/main" id="{C80A2589-4C44-A7A0-26D9-F9143B732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224" y="5623440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338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Years of ATP history transformed into predictive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7191" y="1170432"/>
            <a:ext cx="2377440" cy="132588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7191" y="1170432"/>
            <a:ext cx="2377440" cy="457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4351" y="1298448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E87A22"/>
                </a:solidFill>
                <a:latin typeface="Calibri"/>
              </a:rPr>
              <a:t>~700K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351" y="192024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8CC"/>
                </a:solidFill>
                <a:latin typeface="Calibri"/>
              </a:rPr>
              <a:t>historical
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3815" y="1170432"/>
            <a:ext cx="2377440" cy="132588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53815" y="1170432"/>
            <a:ext cx="237744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0975" y="1298448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2E86AB"/>
                </a:solidFill>
                <a:latin typeface="Calibri"/>
              </a:rPr>
              <a:t>60K+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975" y="192024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8CC"/>
                </a:solidFill>
                <a:latin typeface="Calibri"/>
              </a:rPr>
              <a:t>players
profiled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0439" y="1170432"/>
            <a:ext cx="2377440" cy="132588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0439" y="1170432"/>
            <a:ext cx="23774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7599" y="1298448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B998B"/>
                </a:solidFill>
                <a:latin typeface="Calibri"/>
              </a:rPr>
              <a:t>~65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192024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8CC"/>
                </a:solidFill>
                <a:latin typeface="Calibri"/>
              </a:rPr>
              <a:t>feature
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7063" y="1170432"/>
            <a:ext cx="2377440" cy="1325880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7063" y="1170432"/>
            <a:ext cx="2377440" cy="457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04223" y="1298448"/>
            <a:ext cx="2194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0B429"/>
                </a:solidFill>
                <a:latin typeface="Calibri"/>
              </a:rPr>
              <a:t>16.6K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4223" y="192024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8CC"/>
                </a:solidFill>
                <a:latin typeface="Calibri"/>
              </a:rPr>
              <a:t>training
samples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2697480"/>
            <a:ext cx="5413248" cy="3730752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27648" y="2697480"/>
            <a:ext cx="5413248" cy="3730752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" y="2697480"/>
            <a:ext cx="5413248" cy="402336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7648" y="2697480"/>
            <a:ext cx="5413248" cy="402336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2697480"/>
            <a:ext cx="73152" cy="4023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7648" y="2697480"/>
            <a:ext cx="73152" cy="40233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3" y="2752344"/>
            <a:ext cx="5184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RAW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52344"/>
            <a:ext cx="5184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ENGINEERED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3" y="3355848"/>
            <a:ext cx="82296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3227832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 ATP match history (1968 → today)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3" y="3867912"/>
            <a:ext cx="82296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" y="3739896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Official weekly player rankings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3" y="4379976"/>
            <a:ext cx="82296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251959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Per-match stats: aces, serves, break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3" y="4892040"/>
            <a:ext cx="82296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" y="4764024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Historical head-to-head between players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3" y="5404104"/>
            <a:ext cx="82296" cy="8229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" y="5276088"/>
            <a:ext cx="49560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Metadata: surface, tournament, round, BO3/BO5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355848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56832" y="3227832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Elo ratings: overall + per surface (clay/hard/grass)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898392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3770375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Win rates: career, last 10, BO3/BO5, per surface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440936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56832" y="4312920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Serve stats: aces/match, 1st serve %, points won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983480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56832" y="4855464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Return stats: points won returning, BP converted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526024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56832" y="5398008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Interaction features: Elo delta, serve vs return edge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6068568"/>
            <a:ext cx="82296" cy="82296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56832" y="5940552"/>
            <a:ext cx="4956048" cy="48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Match context: surface, round, tournament tier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2788920"/>
            <a:ext cx="45720" cy="3547872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Temporal split (no random shuffling) to prevent leakage — all features use data strictly prior to each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3385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the System Predicts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6 specialised models — one per pre-match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170432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447" y="1170432"/>
            <a:ext cx="73152" cy="2304288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4039" y="12984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7A2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039" y="1700784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039" y="1993392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MATCH WINNER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39" y="2651760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Probability that Player A beats Player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1911" y="1170432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1911" y="1170432"/>
            <a:ext cx="73152" cy="2304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6503" y="12984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503" y="1700784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503" y="1993392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TIEBREAK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503" y="2651760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Probability the match contains at least one tiebreak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375" y="1170432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4375" y="1170432"/>
            <a:ext cx="73152" cy="230428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8967" y="12984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998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1700784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967" y="1993392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PLAYER 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2651760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Expected aces served by an individual player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" y="3675888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447" y="3675888"/>
            <a:ext cx="73152" cy="230428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4039" y="380390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0B42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039" y="420624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039" y="4498848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TOTAL 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039" y="5157216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Expected total aces across the entire match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1911" y="3675888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21911" y="3675888"/>
            <a:ext cx="73152" cy="2304288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6503" y="380390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7A22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6503" y="420624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6503" y="4498848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TOTAL GAMES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6503" y="5157216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Expected number of games played in the match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4375" y="3675888"/>
            <a:ext cx="3547872" cy="2304288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4375" y="3675888"/>
            <a:ext cx="73152" cy="2304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98967" y="380390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8967" y="420624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A8B8CC"/>
                </a:solidFill>
                <a:latin typeface="Calibri"/>
              </a:rPr>
              <a:t>REGRESSION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8967" y="4498848"/>
            <a:ext cx="32735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SETS PLAYED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8967" y="5157216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A8B8CC"/>
                </a:solidFill>
                <a:latin typeface="Calibri"/>
              </a:rPr>
              <a:t>Expected sets played (2-3 in BO3 · 3-5 in BO5)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Two binary classifiers + four regressors — each trained with target-specific feature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Interaction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68096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8B8CC"/>
                </a:solidFill>
                <a:latin typeface="Calibri"/>
              </a:rPr>
              <a:t>From natural-language query to prediction  —  and back to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170432"/>
            <a:ext cx="2157984" cy="2414016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" y="1170432"/>
            <a:ext cx="2157984" cy="4023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" y="1170432"/>
            <a:ext cx="73152" cy="241401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243584"/>
            <a:ext cx="19202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645920"/>
            <a:ext cx="1920239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A8B8CC"/>
                </a:solidFill>
                <a:latin typeface="Calibri"/>
              </a:rPr>
              <a:t>Natural language query:</a:t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"Who will win —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Djokovic vs. Alcaraz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on clay?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2357323"/>
            <a:ext cx="886968" cy="4023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43783" y="1956816"/>
            <a:ext cx="292608" cy="2926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3783" y="197510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1170432"/>
            <a:ext cx="4663440" cy="2414016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93008" y="1170432"/>
            <a:ext cx="4663440" cy="40233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93008" y="1170432"/>
            <a:ext cx="73152" cy="24140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1243584"/>
            <a:ext cx="44256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OPEN-SOURCE LLM  —  ORCHESTRATION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45920"/>
            <a:ext cx="44256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E87A22"/>
                </a:solidFill>
                <a:latin typeface="Calibri"/>
              </a:rPr>
              <a:t>Intent recognition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  Match outcome prediction  (classification task)</a:t>
            </a: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E87A22"/>
                </a:solidFill>
                <a:latin typeface="Calibri"/>
              </a:rPr>
              <a:t>Entity extraction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  Djokovic  ·  Alcaraz  ·  clay surface  ·  2024</a:t>
            </a: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E87A22"/>
                </a:solidFill>
                <a:latin typeface="Calibri"/>
              </a:rPr>
              <a:t>Model routing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  Delegates to  MATCH WINNER  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2357323"/>
            <a:ext cx="1033271" cy="40233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86216" y="1956816"/>
            <a:ext cx="292608" cy="292608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86216" y="197510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8592" y="1170432"/>
            <a:ext cx="2651760" cy="2414016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08592" y="1170432"/>
            <a:ext cx="2651760" cy="40233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08592" y="1170432"/>
            <a:ext cx="73152" cy="2414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73184" y="1243584"/>
            <a:ext cx="24140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ML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1645920"/>
            <a:ext cx="2414015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B998B"/>
                </a:solidFill>
                <a:latin typeface="Calibri"/>
              </a:rPr>
              <a:t>Build feature vector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A8B8CC"/>
                </a:solidFill>
                <a:latin typeface="Calibri"/>
              </a:rPr>
              <a:t>Elo delta · H2H</a:t>
            </a:r>
          </a:p>
          <a:p>
            <a:pPr algn="l"/>
            <a:r>
              <a:rPr sz="950" b="0" i="0">
                <a:solidFill>
                  <a:srgbClr val="A8B8CC"/>
                </a:solidFill>
                <a:latin typeface="Calibri"/>
              </a:rPr>
              <a:t>win rates · serve stats</a:t>
            </a: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Run classifier</a:t>
            </a:r>
          </a:p>
          <a:p>
            <a:pPr algn="l">
              <a:spcBef>
                <a:spcPts val="8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P(Djokovic wins) =</a:t>
            </a:r>
          </a:p>
          <a:p>
            <a:pPr algn="l">
              <a:spcBef>
                <a:spcPts val="100"/>
              </a:spcBef>
            </a:pPr>
            <a:r>
              <a:rPr sz="2800" b="1" i="0">
                <a:solidFill>
                  <a:srgbClr val="F0B429"/>
                </a:solidFill>
                <a:latin typeface="Calibri"/>
              </a:rPr>
              <a:t>0.68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3913631"/>
            <a:ext cx="11521440" cy="36576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9184" y="4133087"/>
            <a:ext cx="2157984" cy="1993392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9184" y="4133087"/>
            <a:ext cx="2157984" cy="40233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9184" y="4133087"/>
            <a:ext cx="73152" cy="19933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" y="4206240"/>
            <a:ext cx="19202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4608575"/>
            <a:ext cx="1920239" cy="1444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A8B8CC"/>
                </a:solidFill>
                <a:latin typeface="Calibri"/>
              </a:rPr>
              <a:t>Follow-up: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"Why this prediction?"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5109667"/>
            <a:ext cx="886968" cy="4023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843783" y="4709159"/>
            <a:ext cx="292608" cy="2926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43783" y="4727447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93008" y="4133087"/>
            <a:ext cx="4663440" cy="1993392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493008" y="4133087"/>
            <a:ext cx="4663440" cy="40233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493008" y="4133087"/>
            <a:ext cx="73152" cy="199339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0" y="4206240"/>
            <a:ext cx="44256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OPEN-SOURCE LLM  —  EXPLANATION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4608575"/>
            <a:ext cx="4425696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Reads feature importance from the model</a:t>
            </a:r>
          </a:p>
          <a:p>
            <a:pPr algn="l">
              <a:spcBef>
                <a:spcPts val="600"/>
              </a:spcBef>
            </a:pPr>
            <a:r>
              <a:rPr sz="1000" b="1" i="0">
                <a:solidFill>
                  <a:srgbClr val="F0B429"/>
                </a:solidFill>
                <a:latin typeface="Calibri"/>
              </a:rPr>
              <a:t>Builds natural-language justification: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"Djokovic leads on clay Elo (+142 pts),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H2H on clay 8–3, clay win rate 0.82"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56448" y="5109667"/>
            <a:ext cx="1033271" cy="40233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586216" y="4709159"/>
            <a:ext cx="292608" cy="2926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86216" y="4727447"/>
            <a:ext cx="2926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08592" y="4133087"/>
            <a:ext cx="2651760" cy="1993392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308592" y="4133087"/>
            <a:ext cx="2651760" cy="402336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308592" y="4133087"/>
            <a:ext cx="73152" cy="1993392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73184" y="4206240"/>
            <a:ext cx="24140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DRIVERS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73184" y="4608575"/>
            <a:ext cx="241401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+ Clay Elo:   +142 pts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+ H2H clay:   8 – 3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+ Win rate:   0.82 (L10)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A8B8CC"/>
                </a:solidFill>
                <a:latin typeface="Calibri"/>
              </a:rPr>
              <a:t>+ Surface:    clay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547104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8B8CC"/>
                </a:solidFill>
                <a:latin typeface="Calibri"/>
              </a:rPr>
              <a:t>All predictions are pre-match only  —  no live or real-time data is used at inference time</a:t>
            </a:r>
          </a:p>
        </p:txBody>
      </p:sp>
      <p:sp>
        <p:nvSpPr>
          <p:cNvPr id="69" name="Rectangle 11">
            <a:extLst>
              <a:ext uri="{FF2B5EF4-FFF2-40B4-BE49-F238E27FC236}">
                <a16:creationId xmlns:a16="http://schemas.microsoft.com/office/drawing/2014/main" id="{646EC094-A080-AC06-0A8D-3C04981623BA}"/>
              </a:ext>
            </a:extLst>
          </p:cNvPr>
          <p:cNvSpPr/>
          <p:nvPr/>
        </p:nvSpPr>
        <p:spPr>
          <a:xfrm>
            <a:off x="2014541" y="3737038"/>
            <a:ext cx="7558659" cy="45719"/>
          </a:xfrm>
          <a:prstGeom prst="rect">
            <a:avLst/>
          </a:prstGeom>
          <a:solidFill>
            <a:srgbClr val="19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A592BC25-1D23-89E1-EB1E-0039B816B0BE}"/>
              </a:ext>
            </a:extLst>
          </p:cNvPr>
          <p:cNvSpPr/>
          <p:nvPr/>
        </p:nvSpPr>
        <p:spPr>
          <a:xfrm>
            <a:off x="9573200" y="3555872"/>
            <a:ext cx="45719" cy="221283"/>
          </a:xfrm>
          <a:prstGeom prst="rect">
            <a:avLst/>
          </a:prstGeom>
          <a:solidFill>
            <a:srgbClr val="1999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/>
          </a:p>
        </p:txBody>
      </p:sp>
      <p:sp>
        <p:nvSpPr>
          <p:cNvPr id="71" name="Rettangolo 70">
            <a:extLst>
              <a:ext uri="{FF2B5EF4-FFF2-40B4-BE49-F238E27FC236}">
                <a16:creationId xmlns:a16="http://schemas.microsoft.com/office/drawing/2014/main" id="{1CF9FB07-168A-07E2-79F7-82106ECAEB34}"/>
              </a:ext>
            </a:extLst>
          </p:cNvPr>
          <p:cNvSpPr/>
          <p:nvPr/>
        </p:nvSpPr>
        <p:spPr>
          <a:xfrm>
            <a:off x="1981778" y="3564673"/>
            <a:ext cx="45719" cy="221283"/>
          </a:xfrm>
          <a:prstGeom prst="rect">
            <a:avLst/>
          </a:prstGeom>
          <a:solidFill>
            <a:srgbClr val="1999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F551C4BC-9638-295C-7FA5-284CA8D5FCF0}"/>
              </a:ext>
            </a:extLst>
          </p:cNvPr>
          <p:cNvGrpSpPr/>
          <p:nvPr/>
        </p:nvGrpSpPr>
        <p:grpSpPr>
          <a:xfrm>
            <a:off x="8416480" y="3517296"/>
            <a:ext cx="298896" cy="330898"/>
            <a:chOff x="8543352" y="3086102"/>
            <a:chExt cx="298896" cy="330898"/>
          </a:xfrm>
        </p:grpSpPr>
        <p:sp>
          <p:nvSpPr>
            <p:cNvPr id="75" name="Rettangolo 74">
              <a:extLst>
                <a:ext uri="{FF2B5EF4-FFF2-40B4-BE49-F238E27FC236}">
                  <a16:creationId xmlns:a16="http://schemas.microsoft.com/office/drawing/2014/main" id="{256DB54D-66AC-EB85-C7D7-58A3DD2D3FC8}"/>
                </a:ext>
              </a:extLst>
            </p:cNvPr>
            <p:cNvSpPr/>
            <p:nvPr/>
          </p:nvSpPr>
          <p:spPr>
            <a:xfrm>
              <a:off x="8543352" y="3086102"/>
              <a:ext cx="292608" cy="330898"/>
            </a:xfrm>
            <a:prstGeom prst="rect">
              <a:avLst/>
            </a:prstGeom>
            <a:solidFill>
              <a:srgbClr val="19998B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3" name="TextBox 25">
              <a:extLst>
                <a:ext uri="{FF2B5EF4-FFF2-40B4-BE49-F238E27FC236}">
                  <a16:creationId xmlns:a16="http://schemas.microsoft.com/office/drawing/2014/main" id="{E0802BCC-FA16-F55E-B660-147C75A00270}"/>
                </a:ext>
              </a:extLst>
            </p:cNvPr>
            <p:cNvSpPr txBox="1"/>
            <p:nvPr/>
          </p:nvSpPr>
          <p:spPr>
            <a:xfrm>
              <a:off x="8549640" y="3127248"/>
              <a:ext cx="292608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00" b="1" i="0" dirty="0">
                  <a:solidFill>
                    <a:srgbClr val="FFFFFF"/>
                  </a:solidFill>
                  <a:latin typeface="Calibri"/>
                </a:rPr>
                <a:t>0</a:t>
              </a:r>
              <a:r>
                <a:rPr lang="it-IT" sz="1100" b="1" i="0" dirty="0">
                  <a:solidFill>
                    <a:srgbClr val="FFFFFF"/>
                  </a:solidFill>
                  <a:latin typeface="Calibri"/>
                </a:rPr>
                <a:t>3</a:t>
              </a:r>
              <a:endParaRPr sz="1100" b="1" i="0" dirty="0">
                <a:solidFill>
                  <a:srgbClr val="FFFFFF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815</Words>
  <Application>Microsoft Macintosh PowerPoint</Application>
  <PresentationFormat>Widescreen</PresentationFormat>
  <Paragraphs>165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GIOVANARDI</cp:lastModifiedBy>
  <cp:revision>2</cp:revision>
  <dcterms:created xsi:type="dcterms:W3CDTF">2013-01-27T09:14:16Z</dcterms:created>
  <dcterms:modified xsi:type="dcterms:W3CDTF">2026-04-15T20:54:23Z</dcterms:modified>
  <cp:category/>
</cp:coreProperties>
</file>